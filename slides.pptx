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svg" ContentType="image/svg+xml"/>
  <Default Extension="png" ContentType="image/png"/>
  <Default Extension="emf" ContentType="image/x-emf"/>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showSpecialPlsOnTitleSld="0">
  <p:sldMasterIdLst>
    <p:sldMasterId id="2147483660"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12192000" cy="6858000"/>
  <p:notesSz cx="6797675" cy="9926638"/>
  <p:defaultText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55A3"/>
    <a:srgbClr val="00579C"/>
    <a:srgbClr val="0058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0564"/>
    <p:restoredTop autoAdjust="0" sz="96327"/>
  </p:normalViewPr>
  <p:slideViewPr>
    <p:cSldViewPr snapToGrid="0" snapToObjects="1">
      <p:cViewPr varScale="1">
        <p:scale>
          <a:sx d="100" n="125"/>
          <a:sy d="100" n="125"/>
        </p:scale>
        <p:origin x="204" y="90"/>
      </p:cViewPr>
      <p:guideLst/>
    </p:cSldViewPr>
  </p:slideViewPr>
  <p:outlineViewPr>
    <p:cViewPr>
      <p:scale>
        <a:sx d="100" n="33"/>
        <a:sy d="100" n="33"/>
      </p:scale>
      <p:origin x="0" y="0"/>
    </p:cViewPr>
  </p:outlineViewPr>
  <p:notesTextViewPr>
    <p:cViewPr>
      <p:scale>
        <a:sx d="1" n="1"/>
        <a:sy d="1" n="1"/>
      </p:scale>
      <p:origin x="0" y="0"/>
    </p:cViewPr>
  </p:notesTextViewPr>
  <p:sorterViewPr>
    <p:cViewPr>
      <p:scale>
        <a:sx d="100" n="66"/>
        <a:sy d="100" n="66"/>
      </p:scale>
      <p:origin x="0" y="0"/>
    </p:cViewPr>
  </p:sorterViewPr>
  <p:notesViewPr>
    <p:cSldViewPr snapToGrid="0" snapToObjects="1">
      <p:cViewPr varScale="1">
        <p:scale>
          <a:sx d="100" n="105"/>
          <a:sy d="100" n="105"/>
        </p:scale>
        <p:origin x="4392" y="192"/>
      </p:cViewPr>
      <p:guideLst/>
    </p:cSldViewPr>
  </p:notesViewPr>
  <p:gridSpacing cx="76200" cy="76200"/>
</p:viewPr>
</file>

<file path=ppt/_rels/presentation.xml.rels><?xml version="1.0" encoding="UTF-8"?><Relationships xmlns="http://schemas.openxmlformats.org/package/2006/relationships"><Relationship Id="rId5" Type="http://schemas.openxmlformats.org/officeDocument/2006/relationships/slide" Target="slides/slide1.xml" /><Relationship Id="rId6" Type="http://schemas.openxmlformats.org/officeDocument/2006/relationships/slide" Target="slides/slide2.xml" /><Relationship Id="rId7" Type="http://schemas.openxmlformats.org/officeDocument/2006/relationships/slide" Target="slides/slide3.xml" /><Relationship Id="rId8" Type="http://schemas.openxmlformats.org/officeDocument/2006/relationships/slide" Target="slides/slide4.xml" /><Relationship Id="rId9" Type="http://schemas.openxmlformats.org/officeDocument/2006/relationships/slide" Target="slides/slide5.xml" /><Relationship Id="rId10" Type="http://schemas.openxmlformats.org/officeDocument/2006/relationships/slide" Target="slides/slide6.xml" /><Relationship Id="rId11" Type="http://schemas.openxmlformats.org/officeDocument/2006/relationships/slide" Target="slides/slide7.xml" /><Relationship Id="rId12" Type="http://schemas.openxmlformats.org/officeDocument/2006/relationships/slide" Target="slides/slide8.xml" /><Relationship Id="rId13" Type="http://schemas.openxmlformats.org/officeDocument/2006/relationships/slide" Target="slides/slide9.xml" /><Relationship Id="rId14" Type="http://schemas.openxmlformats.org/officeDocument/2006/relationships/slide" Target="slides/slide10.xml" /><Relationship Id="rId15" Type="http://schemas.openxmlformats.org/officeDocument/2006/relationships/slide" Target="slides/slide11.xml" /><Relationship Id="rId16" Type="http://schemas.openxmlformats.org/officeDocument/2006/relationships/slide" Target="slides/slide12.xml" /><Relationship Id="rId17" Type="http://schemas.openxmlformats.org/officeDocument/2006/relationships/slide" Target="slides/slide13.xml" /><Relationship Id="rId18" Type="http://schemas.openxmlformats.org/officeDocument/2006/relationships/slide" Target="slides/slide14.xml" /><Relationship Id="rId19" Type="http://schemas.openxmlformats.org/officeDocument/2006/relationships/slide" Target="slides/slide15.xml" /><Relationship Id="rId20" Type="http://schemas.openxmlformats.org/officeDocument/2006/relationships/slide" Target="slides/slide16.xml" /><Relationship Id="rId21" Type="http://schemas.openxmlformats.org/officeDocument/2006/relationships/slide" Target="slides/slide17.xml" /><Relationship Id="rId22" Type="http://schemas.openxmlformats.org/officeDocument/2006/relationships/slide" Target="slides/slide18.xml" /><Relationship Id="rId23" Type="http://schemas.openxmlformats.org/officeDocument/2006/relationships/slide" Target="slides/slide19.xml" /><Relationship Id="rId24" Type="http://schemas.openxmlformats.org/officeDocument/2006/relationships/slide" Target="slides/slide20.xml" /><Relationship Id="rId25" Type="http://schemas.openxmlformats.org/officeDocument/2006/relationships/slide" Target="slides/slide21.xml" /><Relationship Id="rId26" Type="http://schemas.openxmlformats.org/officeDocument/2006/relationships/slide" Target="slides/slide22.xml" /><Relationship Id="rId27" Type="http://schemas.openxmlformats.org/officeDocument/2006/relationships/slide" Target="slides/slide23.xml" /><Relationship Id="rId28" Type="http://schemas.openxmlformats.org/officeDocument/2006/relationships/slide" Target="slides/slide24.xml" /><Relationship Id="rId29" Type="http://schemas.openxmlformats.org/officeDocument/2006/relationships/slide" Target="slides/slide25.xml" /><Relationship Id="rId30" Type="http://schemas.openxmlformats.org/officeDocument/2006/relationships/slide" Target="slides/slide26.xml" /><Relationship Id="rId31" Type="http://schemas.openxmlformats.org/officeDocument/2006/relationships/slide" Target="slides/slide27.xml" /><Relationship Id="rId32" Type="http://schemas.openxmlformats.org/officeDocument/2006/relationships/slide" Target="slides/slide28.xml" /><Relationship Id="rId33" Type="http://schemas.openxmlformats.org/officeDocument/2006/relationships/slide" Target="slides/slide29.xml" /><Relationship Id="rId34" Type="http://schemas.openxmlformats.org/officeDocument/2006/relationships/slide" Target="slides/slide30.xml" /><Relationship Id="rId35" Type="http://schemas.openxmlformats.org/officeDocument/2006/relationships/slide" Target="slides/slide31.xml" /><Relationship Id="rId36" Type="http://schemas.openxmlformats.org/officeDocument/2006/relationships/slide" Target="slides/slide32.xml" /><Relationship Id="rId40" Type="http://schemas.openxmlformats.org/officeDocument/2006/relationships/theme" Target="theme/theme1.xml" /><Relationship Id="rId3" Type="http://schemas.openxmlformats.org/officeDocument/2006/relationships/customXml" Target="../customXml/item3.xml" /><Relationship Id="rId39" Type="http://schemas.openxmlformats.org/officeDocument/2006/relationships/viewProps" Target="viewProps.xml" /><Relationship Id="rId2" Type="http://schemas.openxmlformats.org/officeDocument/2006/relationships/customXml" Target="../customXml/item2.xml" /><Relationship Id="rId1" Type="http://schemas.openxmlformats.org/officeDocument/2006/relationships/customXml" Target="../customXml/item1.xml" /><Relationship Id="rId38" Type="http://schemas.openxmlformats.org/officeDocument/2006/relationships/presProps" Target="presProps.xml" /><Relationship Id="rId37" Type="http://schemas.openxmlformats.org/officeDocument/2006/relationships/handoutMaster" Target="handoutMasters/handoutMaster1.xml" /><Relationship Id="rId4" Type="http://schemas.openxmlformats.org/officeDocument/2006/relationships/slideMaster" Target="slideMasters/slideMaster1.xml" /><Relationship Id="rId41"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emf"/><Relationship Id="rId5" Type="http://schemas.openxmlformats.org/officeDocument/2006/relationships/image" Target="../media/image7.emf"/><Relationship Id="rId10" Type="http://schemas.openxmlformats.org/officeDocument/2006/relationships/image" Target="../media/image12.emf"/><Relationship Id="rId4" Type="http://schemas.openxmlformats.org/officeDocument/2006/relationships/image" Target="../media/image6.emf"/><Relationship Id="rId9" Type="http://schemas.openxmlformats.org/officeDocument/2006/relationships/image" Target="../media/image1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3" descr="A blue and purple background with circles and dots&#10;&#10;Description automatically generated">
            <a:extLst>
              <a:ext uri="{FF2B5EF4-FFF2-40B4-BE49-F238E27FC236}">
                <a16:creationId xmlns:a16="http://schemas.microsoft.com/office/drawing/2014/main" id="{0CFAD488-B35B-46DF-170F-8B2CAB34E99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a:extLst>
              <a:ext uri="{FF2B5EF4-FFF2-40B4-BE49-F238E27FC236}">
                <a16:creationId xmlns:a16="http://schemas.microsoft.com/office/drawing/2014/main" id="{210EAC21-63AD-76C5-B458-42DF918D730F}"/>
              </a:ext>
            </a:extLst>
          </p:cNvPr>
          <p:cNvPicPr>
            <a:picLocks noChangeAspect="1"/>
          </p:cNvPicPr>
          <p:nvPr userDrawn="1"/>
        </p:nvPicPr>
        <p:blipFill>
          <a:blip r:embed="rId3"/>
          <a:stretch>
            <a:fillRect/>
          </a:stretch>
        </p:blipFill>
        <p:spPr>
          <a:xfrm>
            <a:off x="625313" y="531551"/>
            <a:ext cx="2662678" cy="743631"/>
          </a:xfrm>
          <a:prstGeom prst="rect">
            <a:avLst/>
          </a:prstGeom>
        </p:spPr>
      </p:pic>
      <p:sp>
        <p:nvSpPr>
          <p:cNvPr id="2" name="Title 1"/>
          <p:cNvSpPr>
            <a:spLocks noGrp="1"/>
          </p:cNvSpPr>
          <p:nvPr>
            <p:ph type="ctrTitle"/>
          </p:nvPr>
        </p:nvSpPr>
        <p:spPr>
          <a:xfrm>
            <a:off x="362712" y="2255548"/>
            <a:ext cx="9659112" cy="1254416"/>
          </a:xfrm>
          <a:prstGeom prst="rect">
            <a:avLst/>
          </a:prstGeom>
        </p:spPr>
        <p:txBody>
          <a:bodyPr anchor="b">
            <a:normAutofit/>
          </a:bodyPr>
          <a:lstStyle>
            <a:lvl1pPr algn="l">
              <a:defRPr sz="36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362712" y="3712465"/>
            <a:ext cx="8196072" cy="1029657"/>
          </a:xfrm>
        </p:spPr>
        <p:txBody>
          <a:bodyPr>
            <a:normAutofit/>
          </a:bodyPr>
          <a:lstStyle>
            <a:lvl1pPr marL="0" indent="0" algn="l">
              <a:lnSpc>
                <a:spcPct val="110000"/>
              </a:lnSpc>
              <a:buNone/>
              <a:defRPr lang="en-US" sz="2400" kern="1200" dirty="0" smtClean="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6884896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3" Target="../slideLayouts/slideLayout3.xml" Type="http://schemas.openxmlformats.org/officeDocument/2006/relationships/slideLayout" /><Relationship Id="rId7" Target="../media/image3.emf" Type="http://schemas.openxmlformats.org/officeDocument/2006/relationships/imag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media/image2.png" Type="http://schemas.openxmlformats.org/officeDocument/2006/relationships/image" /><Relationship Id="rId5" Target="../media/image1.png" Type="http://schemas.openxmlformats.org/officeDocument/2006/relationships/image" /><Relationship Id="rId4" Target="../theme/theme1.xml" Type="http://schemas.openxmlformats.org/officeDocument/2006/relationships/theme" /><Relationship Id="rId11" Type="http://schemas.openxmlformats.org/officeDocument/2006/relationships/slideLayout" Target="../slideLayouts/slideLayout4.xml" /><Relationship Id="rId10" Type="http://schemas.openxmlformats.org/officeDocument/2006/relationships/slideLayout" Target="../slideLayouts/slideLayout5.xml" /><Relationship Id="rId9" Type="http://schemas.openxmlformats.org/officeDocument/2006/relationships/slideLayout" Target="../slideLayouts/slideLayout8.xml" /><Relationship Id="rId8"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pic>
        <p:nvPicPr>
          <p:cNvPr descr="A black and purple background  Description automatically generated" id="12" name="Picture 11">
            <a:extLst>
              <a:ext uri="{FF2B5EF4-FFF2-40B4-BE49-F238E27FC236}">
                <a16:creationId xmlns:a16="http://schemas.microsoft.com/office/drawing/2014/main" id="{C1A1048A-9311-ED75-C86E-1B54CDA5554C}"/>
              </a:ext>
            </a:extLst>
          </p:cNvPr>
          <p:cNvPicPr>
            <a:picLocks noChangeAspect="1"/>
          </p:cNvPicPr>
          <p:nvPr userDrawn="1"/>
        </p:nvPicPr>
        <p:blipFill>
          <a:blip cstate="screen" r:embed="rId5">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Text Placeholder 2"/>
          <p:cNvSpPr>
            <a:spLocks noGrp="1"/>
          </p:cNvSpPr>
          <p:nvPr>
            <p:ph idx="1" type="body"/>
          </p:nvPr>
        </p:nvSpPr>
        <p:spPr>
          <a:xfrm>
            <a:off x="258748" y="965085"/>
            <a:ext cx="11750112" cy="50931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7" name="Title Placeholder 6">
            <a:extLst>
              <a:ext uri="{FF2B5EF4-FFF2-40B4-BE49-F238E27FC236}">
                <a16:creationId xmlns:a16="http://schemas.microsoft.com/office/drawing/2014/main" id="{A2480010-F678-B344-A032-37DB46F8167F}"/>
              </a:ext>
            </a:extLst>
          </p:cNvPr>
          <p:cNvSpPr>
            <a:spLocks noGrp="1"/>
          </p:cNvSpPr>
          <p:nvPr>
            <p:ph type="title"/>
          </p:nvPr>
        </p:nvSpPr>
        <p:spPr>
          <a:xfrm>
            <a:off x="258748" y="97537"/>
            <a:ext cx="10658856" cy="701731"/>
          </a:xfrm>
          <a:prstGeom prst="rect">
            <a:avLst/>
          </a:prstGeom>
        </p:spPr>
        <p:txBody>
          <a:bodyPr anchor="ctr" bIns="45720" lIns="91440" rIns="91440" rtlCol="0" tIns="45720" vert="horz">
            <a:normAutofit/>
          </a:bodyPr>
          <a:lstStyle/>
          <a:p>
            <a:r>
              <a:rPr dirty="0" lang="en-US"/>
              <a:t>Click to edit Master title style</a:t>
            </a:r>
          </a:p>
        </p:txBody>
      </p:sp>
      <p:sp>
        <p:nvSpPr>
          <p:cNvPr id="8" name="Footer Placeholder 7">
            <a:extLst>
              <a:ext uri="{FF2B5EF4-FFF2-40B4-BE49-F238E27FC236}">
                <a16:creationId xmlns:a16="http://schemas.microsoft.com/office/drawing/2014/main" id="{1EA1752F-D51E-0D41-BBC4-900B799480C7}"/>
              </a:ext>
            </a:extLst>
          </p:cNvPr>
          <p:cNvSpPr>
            <a:spLocks noGrp="1"/>
          </p:cNvSpPr>
          <p:nvPr>
            <p:ph idx="3" sz="quarter" type="ftr"/>
          </p:nvPr>
        </p:nvSpPr>
        <p:spPr>
          <a:xfrm>
            <a:off x="2712485" y="6514242"/>
            <a:ext cx="9296375" cy="246221"/>
          </a:xfrm>
          <a:prstGeom prst="rect">
            <a:avLst/>
          </a:prstGeom>
        </p:spPr>
        <p:txBody>
          <a:bodyPr anchor="b" anchorCtr="0" bIns="45720" lIns="91440" rIns="91440" rtlCol="0" tIns="45720" vert="horz">
            <a:normAutofit/>
          </a:bodyPr>
          <a:lstStyle>
            <a:lvl1pPr algn="r">
              <a:defRPr sz="1000">
                <a:solidFill>
                  <a:schemeClr val="bg1"/>
                </a:solidFill>
                <a:latin charset="0" panose="020B0604030504040204" pitchFamily="34" typeface="Tahoma"/>
                <a:ea charset="0" panose="020B0604030504040204" pitchFamily="34" typeface="Tahoma"/>
                <a:cs charset="0" panose="020B0604030504040204" pitchFamily="34" typeface="Tahoma"/>
              </a:defRPr>
            </a:lvl1pPr>
          </a:lstStyle>
          <a:p>
            <a:r>
              <a:rPr lang="en-US"/>
              <a:t>FOOTER - Goto 'Insert &gt; Header and footer &gt; Footer'</a:t>
            </a:r>
            <a:endParaRPr dirty="0" lang="en-GB"/>
          </a:p>
        </p:txBody>
      </p:sp>
      <p:sp>
        <p:nvSpPr>
          <p:cNvPr id="6" name="Slide Number Placeholder 5"/>
          <p:cNvSpPr>
            <a:spLocks noGrp="1"/>
          </p:cNvSpPr>
          <p:nvPr>
            <p:ph idx="4" sz="quarter" type="sldNum"/>
          </p:nvPr>
        </p:nvSpPr>
        <p:spPr>
          <a:xfrm>
            <a:off x="258748" y="6352806"/>
            <a:ext cx="2743200" cy="365125"/>
          </a:xfrm>
          <a:prstGeom prst="rect">
            <a:avLst/>
          </a:prstGeom>
        </p:spPr>
        <p:txBody>
          <a:bodyPr anchor="b" anchorCtr="0" bIns="45720" lIns="91440" rIns="91440" rtlCol="0" tIns="45720" vert="horz"/>
          <a:lstStyle>
            <a:lvl1pPr algn="l">
              <a:defRPr sz="1000">
                <a:solidFill>
                  <a:schemeClr val="bg1"/>
                </a:solidFill>
                <a:latin charset="0" panose="020B0604030504040204" pitchFamily="34" typeface="Tahoma"/>
                <a:ea charset="0" panose="020B0604030504040204" pitchFamily="34" typeface="Tahoma"/>
                <a:cs charset="0" panose="020B0604030504040204" pitchFamily="34" typeface="Tahoma"/>
              </a:defRPr>
            </a:lvl1pPr>
          </a:lstStyle>
          <a:p>
            <a:fld id="{838B0777-827F-8D42-90B1-61394C340E65}" type="slidenum">
              <a:rPr lang="en-US" smtClean="0"/>
              <a:pPr/>
              <a:t>‹#›</a:t>
            </a:fld>
            <a:endParaRPr dirty="0" lang="en-US"/>
          </a:p>
        </p:txBody>
      </p:sp>
      <p:sp>
        <p:nvSpPr>
          <p:cNvPr id="13" name="Date Placeholder 3">
            <a:extLst>
              <a:ext uri="{FF2B5EF4-FFF2-40B4-BE49-F238E27FC236}">
                <a16:creationId xmlns:a16="http://schemas.microsoft.com/office/drawing/2014/main" id="{A14BBBCD-90CB-2F47-9BDE-CEED80DD9B4B}"/>
              </a:ext>
            </a:extLst>
          </p:cNvPr>
          <p:cNvSpPr>
            <a:spLocks noGrp="1"/>
          </p:cNvSpPr>
          <p:nvPr>
            <p:ph idx="2" sz="half" type="dt"/>
          </p:nvPr>
        </p:nvSpPr>
        <p:spPr>
          <a:xfrm>
            <a:off x="2850338" y="6294169"/>
            <a:ext cx="9084295" cy="230400"/>
          </a:xfrm>
          <a:prstGeom prst="rect">
            <a:avLst/>
          </a:prstGeom>
        </p:spPr>
        <p:txBody>
          <a:bodyPr anchor="ctr" bIns="36000" lIns="36000" rIns="36000" rtlCol="0" tIns="36000" vert="horz"/>
          <a:lstStyle>
            <a:lvl1pPr algn="r">
              <a:defRPr b="0" i="0" sz="800">
                <a:solidFill>
                  <a:schemeClr val="bg1"/>
                </a:solidFill>
                <a:effectLst/>
                <a:latin charset="0" panose="020B0604030504040204" pitchFamily="34" typeface="Tahoma"/>
                <a:ea charset="0" panose="020B0604030504040204" pitchFamily="34" typeface="Tahoma"/>
                <a:cs charset="0" panose="020B0604030504040204" pitchFamily="34" typeface="Tahoma"/>
              </a:defRPr>
            </a:lvl1pPr>
          </a:lstStyle>
          <a:p>
            <a:r>
              <a:rPr lang="en-US"/>
              <a:t>DATE - 'Insert &gt; Header and footer &gt; Fixed'</a:t>
            </a:r>
            <a:endParaRPr dirty="0" lang="en-GB"/>
          </a:p>
        </p:txBody>
      </p:sp>
      <p:pic>
        <p:nvPicPr>
          <p:cNvPr descr="A black and purple background  Description automatically generated" id="17" name="Picture 16">
            <a:extLst>
              <a:ext uri="{FF2B5EF4-FFF2-40B4-BE49-F238E27FC236}">
                <a16:creationId xmlns:a16="http://schemas.microsoft.com/office/drawing/2014/main" id="{9D636B88-D25D-95BD-544B-9D3EA807C383}"/>
              </a:ext>
            </a:extLst>
          </p:cNvPr>
          <p:cNvPicPr>
            <a:picLocks noChangeAspect="1"/>
          </p:cNvPicPr>
          <p:nvPr userDrawn="1"/>
        </p:nvPicPr>
        <p:blipFill>
          <a:blip r:embed="rId6"/>
          <a:stretch>
            <a:fillRect/>
          </a:stretch>
        </p:blipFill>
        <p:spPr>
          <a:xfrm flipH="1">
            <a:off x="7083946" y="0"/>
            <a:ext cx="5108054" cy="1853174"/>
          </a:xfrm>
          <a:prstGeom prst="rect">
            <a:avLst/>
          </a:prstGeom>
        </p:spPr>
      </p:pic>
      <p:pic>
        <p:nvPicPr>
          <p:cNvPr id="18" name="Picture 17">
            <a:extLst>
              <a:ext uri="{FF2B5EF4-FFF2-40B4-BE49-F238E27FC236}">
                <a16:creationId xmlns:a16="http://schemas.microsoft.com/office/drawing/2014/main" id="{2B45DA93-FBAA-4E83-F1C8-02178FFFE909}"/>
              </a:ext>
            </a:extLst>
          </p:cNvPr>
          <p:cNvPicPr>
            <a:picLocks noChangeAspect="1"/>
          </p:cNvPicPr>
          <p:nvPr userDrawn="1"/>
        </p:nvPicPr>
        <p:blipFill>
          <a:blip r:embed="rId7"/>
          <a:stretch>
            <a:fillRect/>
          </a:stretch>
        </p:blipFill>
        <p:spPr>
          <a:xfrm>
            <a:off x="11473704" y="161471"/>
            <a:ext cx="459381" cy="653342"/>
          </a:xfrm>
          <a:prstGeom prst="rect">
            <a:avLst/>
          </a:prstGeom>
        </p:spPr>
      </p:pic>
    </p:spTree>
    <p:extLst>
      <p:ext uri="{BB962C8B-B14F-4D97-AF65-F5344CB8AC3E}">
        <p14:creationId xmlns:p14="http://schemas.microsoft.com/office/powerpoint/2010/main" val="687543376"/>
      </p:ext>
    </p:extLst>
  </p:cSld>
  <p:clrMap accent1="accent1" accent2="accent2" accent3="accent3" accent4="accent4" accent5="accent5" accent6="accent6" bg1="lt1" bg2="lt2" folHlink="folHlink" hlink="hlink" tx1="dk1" tx2="dk2"/>
  <p:sldLayoutIdLst>
    <p:sldLayoutId id="2147483661" r:id="rId1"/>
    <p:sldLayoutId id="2147483684" r:id="rId2"/>
    <p:sldLayoutId id="2147483692" r:id="rId3"/>
    <p:sldLayoutId id="2147483696" r:id="rId11"/>
    <p:sldLayoutId id="2147483695" r:id="rId10"/>
    <p:sldLayoutId id="2147483694" r:id="rId9"/>
    <p:sldLayoutId id="2147483693" r:id="rId8"/>
  </p:sldLayoutIdLst>
  <p:hf hdr="0"/>
  <p:txStyles>
    <p:titleStyle>
      <a:lvl1pPr algn="l" defTabSz="914400" eaLnBrk="1" hangingPunct="1" latinLnBrk="0" rtl="0">
        <a:lnSpc>
          <a:spcPct val="90000"/>
        </a:lnSpc>
        <a:spcBef>
          <a:spcPct val="0"/>
        </a:spcBef>
        <a:buNone/>
        <a:defRPr kern="1200" sz="3600">
          <a:solidFill>
            <a:srgbClr val="7030A0"/>
          </a:solidFill>
          <a:latin charset="0" panose="020B0604030504040204" pitchFamily="34" typeface="Tahoma"/>
          <a:ea charset="0" panose="020B0604030504040204" pitchFamily="34" typeface="Tahoma"/>
          <a:cs charset="0" panose="020B0604030504040204" pitchFamily="34" typeface="Tahoma"/>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400">
          <a:solidFill>
            <a:schemeClr val="tx1"/>
          </a:solidFill>
          <a:latin charset="0" panose="020B0604030504040204" pitchFamily="34" typeface="Tahoma"/>
          <a:ea charset="0" panose="020B0604030504040204" pitchFamily="34" typeface="Tahoma"/>
          <a:cs charset="0" panose="020B0604030504040204" pitchFamily="34" typeface="Tahoma"/>
        </a:defRPr>
      </a:lvl1pPr>
      <a:lvl2pPr algn="l" defTabSz="914400" eaLnBrk="1" hangingPunct="1" indent="-228600" latinLnBrk="0" marL="685800" rtl="0">
        <a:lnSpc>
          <a:spcPct val="90000"/>
        </a:lnSpc>
        <a:spcBef>
          <a:spcPts val="500"/>
        </a:spcBef>
        <a:buFont charset="0" panose="02070309020205020404" pitchFamily="49" typeface="Courier New"/>
        <a:buChar char="o"/>
        <a:defRPr b="0" kern="1200" sz="2000">
          <a:solidFill>
            <a:schemeClr val="tx1"/>
          </a:solidFill>
          <a:latin charset="0" panose="020B0604030504040204" pitchFamily="34" typeface="Tahoma"/>
          <a:ea charset="0" panose="020B0604030504040204" pitchFamily="34" typeface="Tahoma"/>
          <a:cs charset="0" panose="020B0604030504040204" pitchFamily="34" typeface="Tahoma"/>
        </a:defRPr>
      </a:lvl2pPr>
      <a:lvl3pPr algn="l" defTabSz="914400" eaLnBrk="1" hangingPunct="1" indent="-228600" latinLnBrk="0" marL="1143000" rtl="0">
        <a:lnSpc>
          <a:spcPct val="90000"/>
        </a:lnSpc>
        <a:spcBef>
          <a:spcPts val="500"/>
        </a:spcBef>
        <a:buFont charset="2" pitchFamily="2" typeface="Wingdings"/>
        <a:buChar char="§"/>
        <a:defRPr kern="1200" sz="1800">
          <a:solidFill>
            <a:schemeClr val="tx1"/>
          </a:solidFill>
          <a:latin charset="0" panose="020B0604030504040204" pitchFamily="34" typeface="Tahoma"/>
          <a:ea charset="0" panose="020B0604030504040204" pitchFamily="34" typeface="Tahoma"/>
          <a:cs charset="0" panose="020B0604030504040204" pitchFamily="34" typeface="Tahoma"/>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600">
          <a:solidFill>
            <a:schemeClr val="tx1"/>
          </a:solidFill>
          <a:latin charset="0" panose="020B0604030504040204" pitchFamily="34" typeface="Tahoma"/>
          <a:ea charset="0" panose="020B0604030504040204" pitchFamily="34" typeface="Tahoma"/>
          <a:cs charset="0" panose="020B0604030504040204" pitchFamily="34" typeface="Tahoma"/>
        </a:defRPr>
      </a:lvl4pPr>
      <a:lvl5pPr algn="l" defTabSz="914400" eaLnBrk="1" hangingPunct="1" indent="-228600" latinLnBrk="0" marL="2057400" rtl="0">
        <a:lnSpc>
          <a:spcPct val="90000"/>
        </a:lnSpc>
        <a:spcBef>
          <a:spcPts val="500"/>
        </a:spcBef>
        <a:buFont charset="0" panose="02070309020205020404" pitchFamily="49" typeface="Courier New"/>
        <a:buChar char="o"/>
        <a:defRPr kern="1200" sz="1400">
          <a:solidFill>
            <a:schemeClr val="tx1"/>
          </a:solidFill>
          <a:latin charset="0" panose="020B0604030504040204" pitchFamily="34" typeface="Tahoma"/>
          <a:ea charset="0" panose="020B0604030504040204" pitchFamily="34" typeface="Tahoma"/>
          <a:cs charset="0" panose="020B0604030504040204" pitchFamily="34" typeface="Tahoma"/>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en-US"/>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jp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sv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Kohsuke_Kawaguchi" TargetMode="External" /><Relationship Id="rId3" Type="http://schemas.openxmlformats.org/officeDocument/2006/relationships/hyperlink" Target="https://grokipedia.com/page/Hudson_%28software%29"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Kohsuke_Kawaguchi" TargetMode="External" /><Relationship Id="rId3" Type="http://schemas.openxmlformats.org/officeDocument/2006/relationships/hyperlink" Target="https://grokipedia.com/page/Hudson_%28software%29"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jp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image" Target="../media/image20.jpg" /><Relationship Id="rId2" Type="http://schemas.openxmlformats.org/officeDocument/2006/relationships/image" Target="../media/image19.jp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sv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2712" y="2255548"/>
            <a:ext cx="9659112" cy="1254416"/>
          </a:xfrm>
          <a:prstGeom prst="rect">
            <a:avLst/>
          </a:prstGeom>
        </p:spPr>
        <p:txBody>
          <a:bodyPr/>
          <a:lstStyle/>
          <a:p>
            <a:pPr lvl="0" indent="0" marL="0">
              <a:buNone/>
            </a:pPr>
            <a:r>
              <a:rPr/>
              <a:t>The GLOBIOM test service</a:t>
            </a:r>
          </a:p>
        </p:txBody>
      </p:sp>
      <p:sp>
        <p:nvSpPr>
          <p:cNvPr id="3" name="Subtitle 2"/>
          <p:cNvSpPr>
            <a:spLocks noGrp="1"/>
          </p:cNvSpPr>
          <p:nvPr>
            <p:ph idx="1" type="subTitle"/>
          </p:nvPr>
        </p:nvSpPr>
        <p:spPr>
          <a:xfrm>
            <a:off x="362712" y="3712465"/>
            <a:ext cx="8196072" cy="1029657"/>
          </a:xfrm>
        </p:spPr>
        <p:txBody>
          <a:bodyPr/>
          <a:lstStyle/>
          <a:p>
            <a:pPr lvl="0" indent="0" marL="0">
              <a:buNone/>
            </a:pPr>
            <a:br/>
            <a:br/>
            <a:r>
              <a:rPr/>
              <a:t>Albert Brouwer</a:t>
            </a:r>
          </a:p>
        </p:txBody>
      </p:sp>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t>Purpose</a:t>
            </a:r>
          </a:p>
          <a:p>
            <a:pPr lvl="0"/>
            <a:r>
              <a:rPr/>
              <a:t>History</a:t>
            </a:r>
          </a:p>
          <a:p>
            <a:pPr lvl="0"/>
            <a:r>
              <a:rPr/>
              <a:t>Deployment</a:t>
            </a:r>
          </a:p>
          <a:p>
            <a:pPr lvl="0"/>
            <a:r>
              <a:rPr/>
              <a:t>Use</a:t>
            </a:r>
          </a:p>
          <a:p>
            <a:pPr lvl="0"/>
            <a:r>
              <a:rPr/>
              <a:t>Future</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automated testing</a:t>
            </a:r>
          </a:p>
        </p:txBody>
      </p:sp>
      <p:sp>
        <p:nvSpPr>
          <p:cNvPr id="3" name="Content Placeholder 2"/>
          <p:cNvSpPr>
            <a:spLocks noGrp="1"/>
          </p:cNvSpPr>
          <p:nvPr>
            <p:ph idx="1"/>
          </p:nvPr>
        </p:nvSpPr>
        <p:spPr/>
        <p:txBody>
          <a:bodyPr/>
          <a:lstStyle/>
          <a:p>
            <a:pPr lvl="0" indent="0" marL="0">
              <a:buNone/>
            </a:pPr>
            <a:r>
              <a:rPr/>
              <a:t>Automated testing is essential in scientific software because it enforces rigor, protects reproducibility, and prevents silent regressions that can corrupt results or invalidate published findings. It guarantees that complex numerical pipelines remain trustworthy as models evolve.</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automated testing of GLOBIOM to:</a:t>
            </a:r>
          </a:p>
        </p:txBody>
      </p:sp>
      <p:sp>
        <p:nvSpPr>
          <p:cNvPr id="3" name="Content Placeholder 2"/>
          <p:cNvSpPr>
            <a:spLocks noGrp="1"/>
          </p:cNvSpPr>
          <p:nvPr>
            <p:ph idx="1"/>
          </p:nvPr>
        </p:nvSpPr>
        <p:spPr/>
        <p:txBody>
          <a:bodyPr/>
          <a:lstStyle/>
          <a:p>
            <a:pPr lvl="0"/>
            <a:r>
              <a:rPr/>
              <a:t>Catch regressions and errors early in the development cycle</a:t>
            </a:r>
          </a:p>
          <a:p>
            <a:pPr lvl="0"/>
            <a:r>
              <a:rPr/>
              <a:t>Reduce manual testing burden</a:t>
            </a:r>
          </a:p>
          <a:p>
            <a:pPr lvl="0"/>
            <a:r>
              <a:rPr/>
              <a:t>Expand test coverage far beyond what would be practical manually</a:t>
            </a:r>
          </a:p>
          <a:p>
            <a:pPr lvl="0"/>
            <a:r>
              <a:rPr/>
              <a:t>Produce metrics for verifying/improving model code/performance/outcomes</a:t>
            </a:r>
          </a:p>
          <a:p>
            <a:pPr lvl="0"/>
            <a:r>
              <a:rPr/>
              <a:t>Integrate with version control for traceable changes</a:t>
            </a:r>
          </a:p>
          <a:p>
            <a:pPr lvl="0"/>
            <a:r>
              <a:rPr/>
              <a:t>Guard cross-platform and containerization compatibility</a:t>
            </a:r>
          </a:p>
          <a:p>
            <a:pPr lvl="0"/>
            <a:r>
              <a:rPr/>
              <a:t>Increase confidence in model results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Automated testing of everyday software</a:t>
            </a:r>
          </a:p>
        </p:txBody>
      </p:sp>
      <p:sp>
        <p:nvSpPr>
          <p:cNvPr id="3" name="Content Placeholder 2"/>
          <p:cNvSpPr>
            <a:spLocks noGrp="1"/>
          </p:cNvSpPr>
          <p:nvPr>
            <p:ph idx="1"/>
          </p:nvPr>
        </p:nvSpPr>
        <p:spPr/>
        <p:txBody>
          <a:bodyPr/>
          <a:lstStyle/>
          <a:p>
            <a:pPr lvl="0" indent="0" marL="0">
              <a:buNone/>
            </a:pPr>
            <a:r>
              <a:rPr/>
              <a:t>Automated testing for everyday software can be simple and light because most features can be checked in small pieces, one at a time, on a regular laptop. Developers can quickly run these tiny checks while they work, catching mistakes early—long before the software becomes big or complex. This doesn’t require a large testing system or special infrastructure; it’s more like proofreading each paragraph as you write, instead of waiting to review the whole book at the end.</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testing big GAMS models</a:t>
            </a:r>
          </a:p>
        </p:txBody>
      </p:sp>
      <p:sp>
        <p:nvSpPr>
          <p:cNvPr id="3" name="Content Placeholder 2"/>
          <p:cNvSpPr>
            <a:spLocks noGrp="1"/>
          </p:cNvSpPr>
          <p:nvPr>
            <p:ph idx="1"/>
          </p:nvPr>
        </p:nvSpPr>
        <p:spPr/>
        <p:txBody>
          <a:bodyPr/>
          <a:lstStyle/>
          <a:p>
            <a:pPr lvl="0" indent="0" marL="0">
              <a:buNone/>
            </a:pPr>
            <a:r>
              <a:rPr/>
              <a:t>Large, data‑heavy GAMS models cannot be tested the way everyday software can because their behavior depends on running the </a:t>
            </a:r>
            <a:r>
              <a:rPr i="1"/>
              <a:t>entire</a:t>
            </a:r>
            <a:r>
              <a:rPr/>
              <a:t> system at once. They pull in huge datasets and interact through tightly linked equations, so changing one part affects everything else. You can’t check them in tiny pieces on a laptop—only full, time‑consuming runs reveal whether results still make sense. These models behave like whole ecosystems: only by simulating the complete environment can you see if a change truly works.</a:t>
            </a:r>
          </a:p>
          <a:p>
            <a:pPr lvl="0" indent="0" marL="0">
              <a:buNone/>
            </a:pPr>
            <a:r>
              <a:rPr b="1"/>
              <a:t>⇒ a resource-heavy custom approach is required.</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overcome challenges</a:t>
            </a:r>
          </a:p>
        </p:txBody>
      </p:sp>
      <p:sp>
        <p:nvSpPr>
          <p:cNvPr id="3" name="Content Placeholder 2"/>
          <p:cNvSpPr>
            <a:spLocks noGrp="1"/>
          </p:cNvSpPr>
          <p:nvPr>
            <p:ph idx="1"/>
          </p:nvPr>
        </p:nvSpPr>
        <p:spPr/>
        <p:txBody>
          <a:bodyPr/>
          <a:lstStyle/>
          <a:p>
            <a:pPr lvl="0"/>
            <a:r>
              <a:rPr/>
              <a:t>Acquiring resources in a provisionable format.</a:t>
            </a:r>
          </a:p>
          <a:p>
            <a:pPr lvl="0"/>
            <a:r>
              <a:rPr/>
              <a:t>Scaling resources with demand.</a:t>
            </a:r>
          </a:p>
          <a:p>
            <a:pPr lvl="0"/>
            <a:r>
              <a:rPr/>
              <a:t>GLOBIOM VCS is on Subversion (internal only)</a:t>
            </a:r>
          </a:p>
          <a:p>
            <a:pPr lvl="0"/>
            <a:r>
              <a:rPr/>
              <a:t>GLOBIOM is partially on P: (internal only)</a:t>
            </a:r>
          </a:p>
          <a:p>
            <a:pPr lvl="0"/>
            <a:r>
              <a:rPr/>
              <a:t>Making the testing available as a service to the team.</a:t>
            </a:r>
          </a:p>
          <a:p>
            <a:pPr lvl="0"/>
            <a:r>
              <a:rPr/>
              <a:t>Dealing with Ann Ominous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Ann Ominous</a:t>
            </a:r>
          </a:p>
        </p:txBody>
      </p:sp>
      <p:pic>
        <p:nvPicPr>
          <p:cNvPr descr="images/Ann_Ominous.jpg" id="0" name="Picture 1"/>
          <p:cNvPicPr>
            <a:picLocks noGrp="1" noChangeAspect="1"/>
          </p:cNvPicPr>
          <p:nvPr/>
        </p:nvPicPr>
        <p:blipFill>
          <a:blip r:embed="rId2"/>
          <a:stretch>
            <a:fillRect/>
          </a:stretch>
        </p:blipFill>
        <p:spPr bwMode="auto">
          <a:xfrm>
            <a:off x="4419600" y="952500"/>
            <a:ext cx="34163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Windows Ann Ominous</a:t>
            </a:r>
          </a:p>
        </p:txBody>
      </p:sp>
      <p:pic>
        <p:nvPicPr>
          <p:cNvPr descr="images/Ann_Ominous_Windows.jpg" id="0" name="Picture 1"/>
          <p:cNvPicPr>
            <a:picLocks noGrp="1" noChangeAspect="1"/>
          </p:cNvPicPr>
          <p:nvPr/>
        </p:nvPicPr>
        <p:blipFill>
          <a:blip r:embed="rId2"/>
          <a:stretch>
            <a:fillRect/>
          </a:stretch>
        </p:blipFill>
        <p:spPr bwMode="auto">
          <a:xfrm>
            <a:off x="4432300" y="952500"/>
            <a:ext cx="33909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Jenkins (sign in demo)</a:t>
            </a:r>
          </a:p>
        </p:txBody>
      </p:sp>
      <p:sp>
        <p:nvSpPr>
          <p:cNvPr id="3" name="Content Placeholder 2"/>
          <p:cNvSpPr>
            <a:spLocks noGrp="1"/>
          </p:cNvSpPr>
          <p:nvPr>
            <p:ph idx="1"/>
          </p:nvPr>
        </p:nvSpPr>
        <p:spPr/>
        <p:txBody>
          <a:bodyPr/>
          <a:lstStyle/>
          <a:p>
            <a:pPr lvl="0" indent="0" marL="0">
              <a:buNone/>
            </a:pPr>
            <a:r>
              <a:rPr/>
              <a:t>A self‑hosted test-automation engine prized for its deep configurability. It remains broadly adopted—about 28% usage in 2026—especially where there is need for full control of tailored on‑prem test pipelines.</a:t>
            </a:r>
          </a:p>
          <a:p>
            <a:pPr lvl="0" indent="0" marL="0">
              <a:buNone/>
            </a:pPr>
            <a:r>
              <a:rPr/>
              <a:t>The core GLOBIOM team can sign in to the Jenkins GLOBIOM test service at </a:t>
            </a:r>
            <a:r>
              <a:rPr b="1"/>
              <a:t>https://jenkins.iiasa.ac.at</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jenkins.svg" id="0" name="Picture 1"/>
          <p:cNvPicPr>
            <a:picLocks noGrp="1" noChangeAspect="1"/>
          </p:cNvPicPr>
          <p:nvPr/>
        </p:nvPicPr>
        <p:blipFill>
          <a:blip r:embed="rId2"/>
          <a:stretch>
            <a:fillRect/>
          </a:stretch>
        </p:blipFill>
        <p:spPr bwMode="auto">
          <a:xfrm>
            <a:off x="4279900" y="952500"/>
            <a:ext cx="36830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Hudson</a:t>
            </a:r>
          </a:p>
        </p:txBody>
      </p:sp>
      <p:sp>
        <p:nvSpPr>
          <p:cNvPr id="3" name="Content Placeholder 2"/>
          <p:cNvSpPr>
            <a:spLocks noGrp="1"/>
          </p:cNvSpPr>
          <p:nvPr>
            <p:ph idx="1"/>
          </p:nvPr>
        </p:nvSpPr>
        <p:spPr/>
        <p:txBody>
          <a:bodyPr/>
          <a:lstStyle/>
          <a:p>
            <a:pPr lvl="0"/>
            <a:r>
              <a:rPr b="1"/>
              <a:t>2004</a:t>
            </a:r>
            <a:r>
              <a:rPr/>
              <a:t> — ➡ </a:t>
            </a:r>
            <a:r>
              <a:rPr b="1">
                <a:hlinkClick r:id="rId2"/>
              </a:rPr>
              <a:t>Kohsuke Kawaguchi</a:t>
            </a:r>
            <a:r>
              <a:rPr/>
              <a:t> creates </a:t>
            </a:r>
            <a:r>
              <a:rPr b="1">
                <a:hlinkClick r:id="rId3"/>
              </a:rPr>
              <a:t>Hudson</a:t>
            </a:r>
            <a:r>
              <a:rPr/>
              <a:t> at </a:t>
            </a:r>
            <a:r>
              <a:rPr b="1"/>
              <a:t>Sun Microsystems</a:t>
            </a:r>
            <a:r>
              <a:rPr/>
              <a:t> as a Java‑based CI tool to automate builds and spare his team broken integrations.</a:t>
            </a:r>
          </a:p>
          <a:p>
            <a:pPr lvl="0"/>
            <a:r>
              <a:rPr b="1"/>
              <a:t>2005</a:t>
            </a:r>
            <a:r>
              <a:rPr/>
              <a:t> — Hudson’s first public release ships as an open‑source and quickly gains traction.</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Hudson</a:t>
            </a:r>
          </a:p>
        </p:txBody>
      </p:sp>
      <p:sp>
        <p:nvSpPr>
          <p:cNvPr id="3" name="Content Placeholder 2"/>
          <p:cNvSpPr>
            <a:spLocks noGrp="1"/>
          </p:cNvSpPr>
          <p:nvPr>
            <p:ph idx="1"/>
          </p:nvPr>
        </p:nvSpPr>
        <p:spPr/>
        <p:txBody>
          <a:bodyPr/>
          <a:lstStyle/>
          <a:p>
            <a:pPr lvl="0"/>
            <a:r>
              <a:rPr b="1"/>
              <a:t>2004</a:t>
            </a:r>
            <a:r>
              <a:rPr/>
              <a:t> — </a:t>
            </a:r>
            <a:r>
              <a:rPr b="1">
                <a:hlinkClick r:id="rId2"/>
              </a:rPr>
              <a:t>Kohsuke Kawaguchi</a:t>
            </a:r>
            <a:r>
              <a:rPr/>
              <a:t> creates </a:t>
            </a:r>
            <a:r>
              <a:rPr b="1">
                <a:hlinkClick r:id="rId3"/>
              </a:rPr>
              <a:t>Hudson</a:t>
            </a:r>
            <a:r>
              <a:rPr/>
              <a:t> at </a:t>
            </a:r>
            <a:r>
              <a:rPr b="1"/>
              <a:t>Sun Microsystems</a:t>
            </a:r>
            <a:r>
              <a:rPr/>
              <a:t> as a Java‑based CI tool to automate builds and spare his team broken integrations.</a:t>
            </a:r>
          </a:p>
          <a:p>
            <a:pPr lvl="0"/>
            <a:r>
              <a:rPr b="1"/>
              <a:t>2005</a:t>
            </a:r>
            <a:r>
              <a:rPr/>
              <a:t> — ➡ Hudson’s first public release ships as an open‑source and quickly gains traction.</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Hudson screenshot</a:t>
            </a:r>
          </a:p>
        </p:txBody>
      </p:sp>
      <p:pic>
        <p:nvPicPr>
          <p:cNvPr descr="images/Hudson_Screenshot.png" id="0" name="Picture 1"/>
          <p:cNvPicPr>
            <a:picLocks noGrp="1" noChangeAspect="1"/>
          </p:cNvPicPr>
          <p:nvPr/>
        </p:nvPicPr>
        <p:blipFill>
          <a:blip r:embed="rId2"/>
          <a:stretch>
            <a:fillRect/>
          </a:stretch>
        </p:blipFill>
        <p:spPr bwMode="auto">
          <a:xfrm>
            <a:off x="2844800" y="952500"/>
            <a:ext cx="65786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Emerging Linux dominance</a:t>
            </a:r>
          </a:p>
        </p:txBody>
      </p:sp>
      <p:sp>
        <p:nvSpPr>
          <p:cNvPr id="3" name="Content Placeholder 2"/>
          <p:cNvSpPr>
            <a:spLocks noGrp="1"/>
          </p:cNvSpPr>
          <p:nvPr>
            <p:ph idx="1"/>
          </p:nvPr>
        </p:nvSpPr>
        <p:spPr/>
        <p:txBody>
          <a:bodyPr/>
          <a:lstStyle/>
          <a:p>
            <a:pPr lvl="0"/>
            <a:r>
              <a:rPr b="1"/>
              <a:t>2006-2009</a:t>
            </a:r>
            <a:r>
              <a:rPr/>
              <a:t> — Linux started to dominate, impacting Sun business model.</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inux_crushes_Sun.jpg" id="0" name="Picture 1"/>
          <p:cNvPicPr>
            <a:picLocks noGrp="1" noChangeAspect="1"/>
          </p:cNvPicPr>
          <p:nvPr/>
        </p:nvPicPr>
        <p:blipFill>
          <a:blip r:embed="rId2"/>
          <a:stretch>
            <a:fillRect/>
          </a:stretch>
        </p:blipFill>
        <p:spPr bwMode="auto">
          <a:xfrm>
            <a:off x="4419600" y="952500"/>
            <a:ext cx="34163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Jenkins</a:t>
            </a:r>
          </a:p>
        </p:txBody>
      </p:sp>
      <p:sp>
        <p:nvSpPr>
          <p:cNvPr id="3" name="Content Placeholder 2"/>
          <p:cNvSpPr>
            <a:spLocks noGrp="1"/>
          </p:cNvSpPr>
          <p:nvPr>
            <p:ph idx="1"/>
          </p:nvPr>
        </p:nvSpPr>
        <p:spPr/>
        <p:txBody>
          <a:bodyPr/>
          <a:lstStyle/>
          <a:p>
            <a:pPr lvl="0"/>
            <a:r>
              <a:rPr b="1"/>
              <a:t>2010</a:t>
            </a:r>
            <a:r>
              <a:rPr/>
              <a:t> — After </a:t>
            </a:r>
            <a:r>
              <a:rPr b="1"/>
              <a:t>Oracle acquires Sun</a:t>
            </a:r>
            <a:r>
              <a:rPr/>
              <a:t>, tensions rise as Oracle asserts control and seeks to trademark the </a:t>
            </a:r>
            <a:r>
              <a:rPr b="1"/>
              <a:t>Hudson</a:t>
            </a:r>
            <a:r>
              <a:rPr/>
              <a:t> name, triggering governance disputes.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Kawaguchi_Sun.jpg" id="0" name="Picture 1"/>
          <p:cNvPicPr>
            <a:picLocks noGrp="1" noChangeAspect="1"/>
          </p:cNvPicPr>
          <p:nvPr/>
        </p:nvPicPr>
        <p:blipFill>
          <a:blip r:embed="rId2"/>
          <a:stretch>
            <a:fillRect/>
          </a:stretch>
        </p:blipFill>
        <p:spPr bwMode="auto">
          <a:xfrm>
            <a:off x="4597400" y="952500"/>
            <a:ext cx="3060700" cy="4584700"/>
          </a:xfrm>
          <a:prstGeom prst="rect">
            <a:avLst/>
          </a:prstGeom>
          <a:noFill/>
          <a:ln w="9525">
            <a:noFill/>
            <a:headEnd/>
            <a:tailEnd/>
          </a:ln>
        </p:spPr>
      </p:pic>
      <p:sp>
        <p:nvSpPr>
          <p:cNvPr id="1" name="TextBox 3"/>
          <p:cNvSpPr txBox="1"/>
          <p:nvPr/>
        </p:nvSpPr>
        <p:spPr>
          <a:xfrm>
            <a:off x="254000" y="5537200"/>
            <a:ext cx="11747500" cy="508000"/>
          </a:xfrm>
          <a:prstGeom prst="rect">
            <a:avLst/>
          </a:prstGeom>
          <a:noFill/>
        </p:spPr>
        <p:txBody>
          <a:bodyPr/>
          <a:lstStyle/>
          <a:p>
            <a:pPr lvl="0" indent="0" marL="0" algn="ctr">
              <a:buNone/>
            </a:pPr>
            <a:r>
              <a:rPr/>
              <a:t>Kohsuke Kawaguchi</a:t>
            </a:r>
          </a:p>
        </p:txBody>
      </p:sp>
      <p:pic>
        <p:nvPicPr>
          <p:cNvPr descr="images/Ellison_Oracle.jpg" id="0" name="Picture 1"/>
          <p:cNvPicPr>
            <a:picLocks noGrp="1" noChangeAspect="1"/>
          </p:cNvPicPr>
          <p:nvPr/>
        </p:nvPicPr>
        <p:blipFill>
          <a:blip r:embed="rId3"/>
          <a:stretch>
            <a:fillRect/>
          </a:stretch>
        </p:blipFill>
        <p:spPr bwMode="auto">
          <a:xfrm>
            <a:off x="4584700" y="952500"/>
            <a:ext cx="3073400" cy="4584700"/>
          </a:xfrm>
          <a:prstGeom prst="rect">
            <a:avLst/>
          </a:prstGeom>
          <a:noFill/>
          <a:ln w="9525">
            <a:noFill/>
            <a:headEnd/>
            <a:tailEnd/>
          </a:ln>
        </p:spPr>
      </p:pic>
      <p:sp>
        <p:nvSpPr>
          <p:cNvPr id="1" name="TextBox 3"/>
          <p:cNvSpPr txBox="1"/>
          <p:nvPr/>
        </p:nvSpPr>
        <p:spPr>
          <a:xfrm>
            <a:off x="254000" y="5537200"/>
            <a:ext cx="11747500" cy="508000"/>
          </a:xfrm>
          <a:prstGeom prst="rect">
            <a:avLst/>
          </a:prstGeom>
          <a:noFill/>
        </p:spPr>
        <p:txBody>
          <a:bodyPr/>
          <a:lstStyle/>
          <a:p>
            <a:pPr lvl="0" indent="0" marL="0" algn="ctr">
              <a:buNone/>
            </a:pPr>
            <a:r>
              <a:rPr/>
              <a:t>Larry Ellison</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Jenkins</a:t>
            </a:r>
          </a:p>
        </p:txBody>
      </p:sp>
      <p:sp>
        <p:nvSpPr>
          <p:cNvPr id="3" name="Content Placeholder 2"/>
          <p:cNvSpPr>
            <a:spLocks noGrp="1"/>
          </p:cNvSpPr>
          <p:nvPr>
            <p:ph idx="1"/>
          </p:nvPr>
        </p:nvSpPr>
        <p:spPr/>
        <p:txBody>
          <a:bodyPr/>
          <a:lstStyle/>
          <a:p>
            <a:pPr lvl="0"/>
            <a:r>
              <a:rPr b="1"/>
              <a:t>Early 2011</a:t>
            </a:r>
            <a:r>
              <a:rPr/>
              <a:t> — The community, led by Kawaguchi, </a:t>
            </a:r>
            <a:r>
              <a:rPr b="1"/>
              <a:t>forks Hudson into Jenkins</a:t>
            </a:r>
            <a:r>
              <a:rPr/>
              <a:t>, rejecting Oracle’s stewardship.</a:t>
            </a:r>
          </a:p>
          <a:p>
            <a:pPr lvl="0"/>
            <a:r>
              <a:rPr b="1"/>
              <a:t>2011</a:t>
            </a:r>
            <a:r>
              <a:rPr/>
              <a:t> — Kawaguchi departs and co‑founds </a:t>
            </a:r>
            <a:r>
              <a:rPr b="1"/>
              <a:t>CloudBees</a:t>
            </a:r>
            <a:r>
              <a:rPr/>
              <a:t>, becoming the commercial steward and evangelist of Jenkins’ future ecosystem.</a:t>
            </a:r>
          </a:p>
          <a:p>
            <a:pPr lvl="0"/>
            <a:r>
              <a:rPr b="1"/>
              <a:t>2011 onward</a:t>
            </a:r>
            <a:r>
              <a:rPr/>
              <a:t> — </a:t>
            </a:r>
            <a:r>
              <a:rPr b="1"/>
              <a:t>Jenkins</a:t>
            </a:r>
            <a:r>
              <a:rPr/>
              <a:t>—the renamed, community‑owned continuation—quickly eclipses Hudson, becoming the dominant CI platform with a vast plugin ecosystem.</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Jenkins ecosystem (plugin demo)</a:t>
            </a:r>
          </a:p>
        </p:txBody>
      </p:sp>
      <p:sp>
        <p:nvSpPr>
          <p:cNvPr id="3" name="Content Placeholder 2"/>
          <p:cNvSpPr>
            <a:spLocks noGrp="1"/>
          </p:cNvSpPr>
          <p:nvPr>
            <p:ph idx="1"/>
          </p:nvPr>
        </p:nvSpPr>
        <p:spPr/>
        <p:txBody>
          <a:bodyPr/>
          <a:lstStyle/>
          <a:p>
            <a:pPr lvl="0" indent="0" marL="0">
              <a:buNone/>
            </a:pPr>
            <a:r>
              <a:rPr/>
              <a:t>The rich Jenkins ecosystem features a </a:t>
            </a:r>
            <a:r>
              <a:rPr b="1"/>
              <a:t>vast plugin library (2,000+ plugins)</a:t>
            </a:r>
            <a:r>
              <a:rPr/>
              <a:t> that enables flexible, end‑to‑end automation across nearly any technology stack, powered by a large and active open‑source community that continuously expands its capabilities.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jenkins-plugins.png" id="0" name="Picture 1"/>
          <p:cNvPicPr>
            <a:picLocks noGrp="1" noChangeAspect="1"/>
          </p:cNvPicPr>
          <p:nvPr/>
        </p:nvPicPr>
        <p:blipFill>
          <a:blip r:embed="rId2"/>
          <a:stretch>
            <a:fillRect/>
          </a:stretch>
        </p:blipFill>
        <p:spPr bwMode="auto">
          <a:xfrm>
            <a:off x="3784600" y="952500"/>
            <a:ext cx="46990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CTBTO (free-style configuration demo)</a:t>
            </a:r>
          </a:p>
        </p:txBody>
      </p:sp>
      <p:sp>
        <p:nvSpPr>
          <p:cNvPr id="3" name="Content Placeholder 2"/>
          <p:cNvSpPr>
            <a:spLocks noGrp="1"/>
          </p:cNvSpPr>
          <p:nvPr>
            <p:ph idx="1"/>
          </p:nvPr>
        </p:nvSpPr>
        <p:spPr/>
        <p:txBody>
          <a:bodyPr/>
          <a:lstStyle/>
          <a:p>
            <a:pPr lvl="0" indent="0" marL="0">
              <a:buNone/>
            </a:pPr>
            <a:r>
              <a:rPr/>
              <a:t>Jenkins for automated testing of seismic, hydroacoustic, and infrasound processing software.</a:t>
            </a:r>
          </a:p>
          <a:p>
            <a:pPr lvl="0"/>
            <a:r>
              <a:rPr/>
              <a:t>Virtual machine (VM) image with integrated Oracle database.</a:t>
            </a:r>
          </a:p>
          <a:p>
            <a:pPr lvl="0"/>
            <a:r>
              <a:rPr/>
              <a:t>Scaled by deploying more “worker agent” VM instances.</a:t>
            </a:r>
          </a:p>
          <a:p>
            <a:pPr lvl="0"/>
            <a:r>
              <a:rPr/>
              <a:t>“Free style” GUI-configured Jenkins projects.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mitigating the Jenkins Web-UI monstrosity</a:t>
            </a:r>
          </a:p>
        </p:txBody>
      </p:sp>
      <p:sp>
        <p:nvSpPr>
          <p:cNvPr id="3" name="Content Placeholder 2"/>
          <p:cNvSpPr>
            <a:spLocks noGrp="1"/>
          </p:cNvSpPr>
          <p:nvPr>
            <p:ph idx="1"/>
          </p:nvPr>
        </p:nvSpPr>
        <p:spPr/>
        <p:txBody>
          <a:bodyPr/>
          <a:lstStyle/>
          <a:p>
            <a:pPr lvl="0"/>
            <a:r>
              <a:rPr b="1"/>
              <a:t>Pipeline</a:t>
            </a:r>
            <a:r>
              <a:rPr/>
              <a:t>: scripts for test description.</a:t>
            </a:r>
          </a:p>
          <a:p>
            <a:pPr lvl="0"/>
            <a:r>
              <a:rPr b="1"/>
              <a:t>Configuration as code</a:t>
            </a:r>
            <a:r>
              <a:rPr/>
              <a:t>: serialize configuration settings as text.</a:t>
            </a:r>
          </a:p>
          <a:p>
            <a:pPr lvl="0"/>
            <a:r>
              <a:rPr/>
              <a:t>To be managed via </a:t>
            </a:r>
            <a:r>
              <a:rPr b="1"/>
              <a:t>Git</a:t>
            </a:r>
            <a:r>
              <a:rPr/>
              <a:t>.</a:t>
            </a:r>
          </a:p>
          <a:p>
            <a:pPr lvl="1"/>
            <a:r>
              <a:rPr/>
              <a:t>See https://iiasa.github.io/Data_Stewards/managing-code-and-data.html</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jenkinstein.svg" id="0" name="Picture 1"/>
          <p:cNvPicPr>
            <a:picLocks noGrp="1" noChangeAspect="1"/>
          </p:cNvPicPr>
          <p:nvPr/>
        </p:nvPicPr>
        <p:blipFill>
          <a:blip r:embed="rId2"/>
          <a:stretch>
            <a:fillRect/>
          </a:stretch>
        </p:blipFill>
        <p:spPr bwMode="auto">
          <a:xfrm>
            <a:off x="2311400" y="952500"/>
            <a:ext cx="76454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IIASA</a:t>
            </a:r>
          </a:p>
        </p:txBody>
      </p:sp>
      <p:sp>
        <p:nvSpPr>
          <p:cNvPr id="3" name="Content Placeholder 2"/>
          <p:cNvSpPr>
            <a:spLocks noGrp="1"/>
          </p:cNvSpPr>
          <p:nvPr>
            <p:ph idx="1"/>
          </p:nvPr>
        </p:nvSpPr>
        <p:spPr/>
        <p:txBody>
          <a:bodyPr/>
          <a:lstStyle/>
          <a:p>
            <a:pPr lvl="0" indent="0" marL="0">
              <a:buNone/>
            </a:pPr>
            <a:r>
              <a:rPr/>
              <a:t>Ominous challenges. Set up a </a:t>
            </a:r>
            <a:r>
              <a:rPr b="1"/>
              <a:t>Jenkins test server</a:t>
            </a:r>
            <a:r>
              <a:rPr/>
              <a:t> using test pipeline scripts. Deployed on Linux via many tickets. Issues with:</a:t>
            </a:r>
          </a:p>
          <a:p>
            <a:pPr lvl="0"/>
            <a:r>
              <a:rPr/>
              <a:t>By-proxy maintenance and upgrades.</a:t>
            </a:r>
          </a:p>
          <a:p>
            <a:pPr lvl="0"/>
            <a:r>
              <a:rPr/>
              <a:t>Slow storage.</a:t>
            </a:r>
          </a:p>
          <a:p>
            <a:pPr lvl="0"/>
            <a:r>
              <a:rPr/>
              <a:t>Multi-tenancy resource exhaustion.</a:t>
            </a:r>
          </a:p>
          <a:p>
            <a:pPr lvl="0"/>
            <a:r>
              <a:rPr/>
              <a:t>Outages.</a:t>
            </a:r>
          </a:p>
          <a:p>
            <a:pPr lvl="0"/>
            <a:r>
              <a:rPr/>
              <a:t>No scaling.</a:t>
            </a:r>
          </a:p>
          <a:p>
            <a:pPr lvl="0"/>
            <a:r>
              <a:rPr/>
              <a:t>Added a </a:t>
            </a:r>
            <a:r>
              <a:rPr>
                <a:latin typeface="Courier"/>
              </a:rPr>
              <a:t>Jenkinsfile</a:t>
            </a:r>
            <a:r>
              <a:rPr/>
              <a:t> pipeline script to the GLOBIOM Trunk.</a:t>
            </a:r>
          </a:p>
          <a:p>
            <a:pPr lvl="0"/>
            <a:r>
              <a:rPr/>
              <a:t>Automated testing of GLOBIOM as far as the test server would allow.</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readying GLOBIOM for testing</a:t>
            </a:r>
          </a:p>
        </p:txBody>
      </p:sp>
      <p:sp>
        <p:nvSpPr>
          <p:cNvPr id="3" name="Content Placeholder 2"/>
          <p:cNvSpPr>
            <a:spLocks noGrp="1"/>
          </p:cNvSpPr>
          <p:nvPr>
            <p:ph idx="1"/>
          </p:nvPr>
        </p:nvSpPr>
        <p:spPr/>
        <p:txBody>
          <a:bodyPr/>
          <a:lstStyle/>
          <a:p>
            <a:pPr lvl="0" indent="0" marL="0">
              <a:buNone/>
            </a:pPr>
            <a:r>
              <a:rPr/>
              <a:t>Readied the GLOBIOM Fable, GLOBIOM Prerelease, and GLOBIOM Trunk for automated testing:</a:t>
            </a:r>
          </a:p>
          <a:p>
            <a:pPr lvl="0"/>
            <a:r>
              <a:rPr/>
              <a:t>Removed platform dependencies:</a:t>
            </a:r>
          </a:p>
          <a:p>
            <a:pPr lvl="1"/>
            <a:r>
              <a:rPr/>
              <a:t>Converted use of GDXXRW/Office to xl2gdx.R/gdxrrw.</a:t>
            </a:r>
          </a:p>
          <a:p>
            <a:pPr lvl="1"/>
            <a:r>
              <a:rPr/>
              <a:t>Path casing errors.</a:t>
            </a:r>
          </a:p>
          <a:p>
            <a:pPr lvl="1"/>
            <a:r>
              <a:rPr/>
              <a:t>Path separators.</a:t>
            </a:r>
          </a:p>
          <a:p>
            <a:pPr lvl="1"/>
            <a:r>
              <a:rPr/>
              <a:t>FILE statement delimiting.</a:t>
            </a:r>
          </a:p>
          <a:p>
            <a:pPr lvl="1"/>
            <a:r>
              <a:rPr/>
              <a:t>…</a:t>
            </a:r>
          </a:p>
          <a:p>
            <a:pPr lvl="0"/>
            <a:r>
              <a:rPr/>
              <a:t>Normalized </a:t>
            </a:r>
            <a:r>
              <a:rPr>
                <a:latin typeface="Courier"/>
              </a:rPr>
              <a:t>Model/0_executebatch.gms</a:t>
            </a:r>
            <a:r>
              <a:rPr/>
              <a:t>, added </a:t>
            </a:r>
            <a:r>
              <a:rPr>
                <a:latin typeface="Courier"/>
              </a:rPr>
              <a:t>include/environment.gms</a:t>
            </a:r>
            <a:r>
              <a:rPr/>
              <a:t>, …</a:t>
            </a:r>
          </a:p>
          <a:p>
            <a:pPr lvl="0"/>
            <a:r>
              <a:rPr/>
              <a:t>Mirrored </a:t>
            </a:r>
            <a:r>
              <a:rPr>
                <a:latin typeface="Courier"/>
              </a:rPr>
              <a:t>P:</a:t>
            </a:r>
            <a:r>
              <a:rPr/>
              <a:t> data GLOBIOM needs on GitLab.</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History: Kubernetes</a:t>
            </a:r>
          </a:p>
        </p:txBody>
      </p:sp>
      <p:sp>
        <p:nvSpPr>
          <p:cNvPr id="3" name="Content Placeholder 2"/>
          <p:cNvSpPr>
            <a:spLocks noGrp="1"/>
          </p:cNvSpPr>
          <p:nvPr>
            <p:ph idx="1"/>
          </p:nvPr>
        </p:nvSpPr>
        <p:spPr/>
        <p:txBody>
          <a:bodyPr/>
          <a:lstStyle/>
          <a:p>
            <a:pPr lvl="0" indent="0" marL="0">
              <a:buNone/>
            </a:pPr>
            <a:r>
              <a:rPr b="1"/>
              <a:t>Kubernetes:</a:t>
            </a:r>
            <a:r>
              <a:rPr/>
              <a:t> helps coordinate computers to jointly run apps like Jenkins or the Accelerator so that they can grow smoothly when needed. </a:t>
            </a:r>
            <a:r>
              <a:rPr b="1"/>
              <a:t>Let’s use Kubernetes!</a:t>
            </a:r>
          </a:p>
          <a:p>
            <a:pPr lvl="0" indent="0" marL="0">
              <a:buNone/>
            </a:pPr>
            <a:r>
              <a:rPr/>
              <a:t>Five years later, after several false starts, bartered into being a usable Kubernetes cluster for IBF by sacrificing limpopo 2, 3, and 4. And then buying more storage.</a:t>
            </a:r>
          </a:p>
          <a:p>
            <a:pPr lvl="0" indent="0" marL="0">
              <a:buNone/>
            </a:pPr>
            <a:r>
              <a:rPr/>
              <a:t>Also used for Accelerator “routines”.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Now: Jenkins test service deployed on IBF Kubernetes cluster</a:t>
            </a:r>
          </a:p>
        </p:txBody>
      </p:sp>
      <p:sp>
        <p:nvSpPr>
          <p:cNvPr id="3" name="Content Placeholder 2"/>
          <p:cNvSpPr>
            <a:spLocks noGrp="1"/>
          </p:cNvSpPr>
          <p:nvPr>
            <p:ph idx="1"/>
          </p:nvPr>
        </p:nvSpPr>
        <p:spPr/>
        <p:txBody>
          <a:bodyPr/>
          <a:lstStyle/>
          <a:p>
            <a:pPr lvl="0" indent="0" marL="0">
              <a:buNone/>
            </a:pPr>
            <a:r>
              <a:rPr/>
              <a:t>A mashup of container build scripting, Kubernetes orchestration resources, configuration as code, Jenkins plugins, and </a:t>
            </a:r>
            <a:r>
              <a:rPr>
                <a:latin typeface="Courier"/>
              </a:rPr>
              <a:t>Jenkinsfile</a:t>
            </a:r>
            <a:r>
              <a:rPr/>
              <a:t> pipeline scripting, all managed with Git.</a:t>
            </a:r>
          </a:p>
          <a:p>
            <a:pPr lvl="0"/>
            <a:r>
              <a:rPr/>
              <a:t>Instantiates clean-slate </a:t>
            </a:r>
            <a:r>
              <a:rPr b="1"/>
              <a:t>test agents</a:t>
            </a:r>
            <a:r>
              <a:rPr/>
              <a:t> for every test run.</a:t>
            </a:r>
          </a:p>
          <a:p>
            <a:pPr lvl="0"/>
            <a:r>
              <a:rPr/>
              <a:t>Pulls GLOBIOM from GitHub/Subversion and P: data from GitLab.</a:t>
            </a:r>
          </a:p>
          <a:p>
            <a:pPr lvl="0"/>
            <a:r>
              <a:rPr/>
              <a:t>Patches GLOBIOM for testing</a:t>
            </a:r>
          </a:p>
          <a:p>
            <a:pPr lvl="0"/>
            <a:r>
              <a:rPr/>
              <a:t>Runs GLOBIOM from A to Z.</a:t>
            </a:r>
          </a:p>
          <a:p>
            <a:pPr lvl="1"/>
            <a:r>
              <a:rPr/>
              <a:t>For all code-path-modifying off-by-one-from-default settings.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Agent container</a:t>
            </a:r>
          </a:p>
        </p:txBody>
      </p:sp>
      <p:sp>
        <p:nvSpPr>
          <p:cNvPr id="3" name="Content Placeholder 2"/>
          <p:cNvSpPr>
            <a:spLocks noGrp="1"/>
          </p:cNvSpPr>
          <p:nvPr>
            <p:ph idx="1"/>
          </p:nvPr>
        </p:nvSpPr>
        <p:spPr/>
        <p:txBody>
          <a:bodyPr/>
          <a:lstStyle/>
          <a:p>
            <a:pPr lvl="0"/>
            <a:r>
              <a:rPr/>
              <a:t>Has all the IBF canonical GAMS versions, R, Python, and packages that GLOBIOM needs.</a:t>
            </a:r>
          </a:p>
          <a:p>
            <a:pPr lvl="0"/>
            <a:r>
              <a:rPr/>
              <a:t>Also instrumented for GAMS post-mortem.</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mages/Linux_performance_observability_tools.png" id="0" name="Picture 1"/>
          <p:cNvPicPr>
            <a:picLocks noGrp="1" noChangeAspect="1"/>
          </p:cNvPicPr>
          <p:nvPr/>
        </p:nvPicPr>
        <p:blipFill>
          <a:blip r:embed="rId2"/>
          <a:stretch>
            <a:fillRect/>
          </a:stretch>
        </p:blipFill>
        <p:spPr bwMode="auto">
          <a:xfrm>
            <a:off x="2730500" y="952500"/>
            <a:ext cx="6794500" cy="5092700"/>
          </a:xfrm>
          <a:prstGeom prst="rect">
            <a:avLst/>
          </a:prstGeom>
          <a:noFill/>
          <a:ln w="9525">
            <a:noFill/>
            <a:headEnd/>
            <a:tailEnd/>
          </a:ln>
        </p:spPr>
      </p:pic>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GLOBIOM testing (demo)</a:t>
            </a:r>
          </a:p>
        </p:txBody>
      </p:sp>
      <p:sp>
        <p:nvSpPr>
          <p:cNvPr id="3" name="Content Placeholder 2"/>
          <p:cNvSpPr>
            <a:spLocks noGrp="1"/>
          </p:cNvSpPr>
          <p:nvPr>
            <p:ph idx="1"/>
          </p:nvPr>
        </p:nvSpPr>
        <p:spPr/>
        <p:txBody>
          <a:bodyPr/>
          <a:lstStyle/>
          <a:p>
            <a:pPr lvl="0"/>
            <a:r>
              <a:rPr/>
              <a:t>Views</a:t>
            </a:r>
          </a:p>
          <a:p>
            <a:pPr lvl="0"/>
            <a:r>
              <a:rPr/>
              <a:t>Projects</a:t>
            </a:r>
          </a:p>
          <a:p>
            <a:pPr lvl="0"/>
            <a:r>
              <a:rPr/>
              <a:t>Parameters</a:t>
            </a:r>
          </a:p>
          <a:p>
            <a:pPr lvl="0"/>
            <a:r>
              <a:rPr/>
              <a:t>Pipeline</a:t>
            </a:r>
          </a:p>
          <a:p>
            <a:pPr lvl="0"/>
            <a:r>
              <a:rPr/>
              <a:t>Build</a:t>
            </a:r>
          </a:p>
          <a:p>
            <a:pPr lvl="0"/>
            <a:r>
              <a:rPr/>
              <a:t>Changes</a:t>
            </a:r>
          </a:p>
          <a:p>
            <a:pPr lvl="0"/>
            <a:r>
              <a:rPr/>
              <a:t>Plots/Metrics</a:t>
            </a:r>
          </a:p>
          <a:p>
            <a:pPr lvl="0"/>
            <a:r>
              <a:rPr/>
              <a:t>Emails/Issues</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Future</a:t>
            </a:r>
          </a:p>
        </p:txBody>
      </p:sp>
      <p:sp>
        <p:nvSpPr>
          <p:cNvPr id="3" name="Content Placeholder 2"/>
          <p:cNvSpPr>
            <a:spLocks noGrp="1"/>
          </p:cNvSpPr>
          <p:nvPr>
            <p:ph idx="1"/>
          </p:nvPr>
        </p:nvSpPr>
        <p:spPr/>
        <p:txBody>
          <a:bodyPr/>
          <a:lstStyle/>
          <a:p>
            <a:pPr lvl="0"/>
            <a:r>
              <a:rPr/>
              <a:t>Expand plots/metrics</a:t>
            </a:r>
          </a:p>
          <a:p>
            <a:pPr lvl="0"/>
            <a:r>
              <a:rPr/>
              <a:t>Add more branches</a:t>
            </a:r>
          </a:p>
          <a:p>
            <a:pPr lvl="0"/>
            <a:r>
              <a:rPr/>
              <a:t>Scale up storage</a:t>
            </a:r>
          </a:p>
          <a:p>
            <a:pPr lvl="0"/>
            <a:r>
              <a:rPr/>
              <a:t>GitHub issue tracking integration</a:t>
            </a:r>
          </a:p>
          <a:p>
            <a:pPr lvl="0"/>
            <a:r>
              <a:rPr/>
              <a:t>Integrate </a:t>
            </a:r>
            <a:r>
              <a:rPr b="1"/>
              <a:t>GAMS dig</a:t>
            </a:r>
            <a:r>
              <a:rPr/>
              <a:t> analysis</a:t>
            </a:r>
          </a:p>
          <a:p>
            <a:pPr lvl="0"/>
            <a:r>
              <a:rPr/>
              <a:t>More agent kinds or Jenkins instances</a:t>
            </a:r>
          </a:p>
          <a:p>
            <a:pPr lvl="0"/>
            <a:r>
              <a:rPr/>
              <a:t>…</a:t>
            </a:r>
          </a:p>
        </p:txBody>
      </p:sp>
      <p:sp>
        <p:nvSpPr>
          <p:cNvPr id="4" name="Date Placeholder 3"/>
          <p:cNvSpPr>
            <a:spLocks noGrp="1"/>
          </p:cNvSpPr>
          <p:nvPr>
            <p:ph idx="10" sz="half" type="dt"/>
          </p:nvPr>
        </p:nvSpPr>
        <p:spPr/>
        <p:txBody>
          <a:bodyPr/>
          <a:lstStyle/>
          <a:p>
            <a:fld id="{241EB5C9-1307-BA42-ABA2-0BC069CD8E7F}" type="datetimeFigureOut">
              <a:rPr lang="en-US" smtClean="0"/>
              <a:t>15-Apr-2026</a:t>
            </a:fld>
            <a:endParaRPr lang="en-US"/>
          </a:p>
        </p:txBody>
      </p:sp>
      <p:sp>
        <p:nvSpPr>
          <p:cNvPr id="5" name="Footer Placeholder 4"/>
          <p:cNvSpPr>
            <a:spLocks noGrp="1"/>
          </p:cNvSpPr>
          <p:nvPr>
            <p:ph idx="11" sz="quarter" type="ftr"/>
          </p:nvPr>
        </p:nvSpPr>
        <p:spPr/>
        <p:txBody>
          <a:bodyPr/>
          <a:lstStyle/>
          <a:p>
            <a:endParaRPr lang="en-US"/>
          </a:p>
        </p:txBody>
      </p:sp>
      <p:sp>
        <p:nvSpPr>
          <p:cNvPr id="6" name="Slide Number Placeholder 5"/>
          <p:cNvSpPr>
            <a:spLocks noGrp="1"/>
          </p:cNvSpPr>
          <p:nvPr>
            <p:ph idx="12" sz="quarter" type="sldNum"/>
          </p:nvPr>
        </p:nvSpPr>
        <p:spPr/>
        <p:txBody>
          <a:bodyPr/>
          <a:lstStyle/>
          <a:p>
            <a:fld id="{C5EF2332-01BF-834F-8236-50238282D533}" type="slidenum">
              <a:rPr lang="en-US" smtClean="0"/>
              <a:t>‹#›</a:t>
            </a:fld>
            <a:endParaRPr lang="en-US"/>
          </a:p>
        </p:txBody>
      </p:sp>
    </p:spTree>
  </p:cSld>
</p:sld>
</file>

<file path=ppt/theme/theme1.xml><?xml version="1.0" encoding="utf-8"?>
<a:theme xmlns:a="http://schemas.openxmlformats.org/drawingml/2006/main" name="Office Theme">
  <a:themeElements>
    <a:clrScheme name="IIASA">
      <a:dk1>
        <a:srgbClr val="000000"/>
      </a:dk1>
      <a:lt1>
        <a:srgbClr val="FFFFFF"/>
      </a:lt1>
      <a:dk2>
        <a:srgbClr val="44546A"/>
      </a:dk2>
      <a:lt2>
        <a:srgbClr val="E7E6E6"/>
      </a:lt2>
      <a:accent1>
        <a:srgbClr val="2653A0"/>
      </a:accent1>
      <a:accent2>
        <a:srgbClr val="60C6BF"/>
      </a:accent2>
      <a:accent3>
        <a:srgbClr val="207E6E"/>
      </a:accent3>
      <a:accent4>
        <a:srgbClr val="FBBB40"/>
      </a:accent4>
      <a:accent5>
        <a:srgbClr val="EE696B"/>
      </a:accent5>
      <a:accent6>
        <a:srgbClr val="684B94"/>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IASA Template Old but NEW" id="{9246D6C3-268A-2744-ACF8-43068FFB17A5}" vid="{B2C6A768-165A-584D-88A6-2CB877225D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IIASA PPT presentation template (09.2024)</Template>
  <TotalTime>1482</TotalTime>
  <Words>1540</Words>
  <Application>Microsoft Office PowerPoint</Application>
  <PresentationFormat>Widescreen</PresentationFormat>
  <Paragraphs>150</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Courier New</vt:lpstr>
      <vt:lpstr>Source Sans Pro</vt:lpstr>
      <vt:lpstr>Tahoma</vt:lpstr>
      <vt:lpstr>Wingdings</vt:lpstr>
      <vt:lpstr>Office Theme</vt:lpstr>
      <vt:lpstr>A Perspective on Current Artificial Intelligence</vt:lpstr>
      <vt:lpstr>Overview</vt:lpstr>
      <vt:lpstr>The Hope </vt:lpstr>
      <vt:lpstr>Hype is confusing the discussion </vt:lpstr>
      <vt:lpstr>Human biases complicate the quest for AI </vt:lpstr>
      <vt:lpstr>Before the wave of current AI </vt:lpstr>
      <vt:lpstr>The grounding problem </vt:lpstr>
      <vt:lpstr>Suppose we are our brain… </vt:lpstr>
      <vt:lpstr>But are we our brain? </vt:lpstr>
      <vt:lpstr>This testimony stuff is not science,  can we have reproducible experiments please?</vt:lpstr>
      <vt:lpstr>Somehow the current AI wave has yielded machine intelligence of a kind, what happened?</vt:lpstr>
      <vt:lpstr>Transformer Large Language Model (LLM) </vt:lpstr>
      <vt:lpstr>LLMs can assist research with </vt:lpstr>
      <vt:lpstr>LLMs can be </vt:lpstr>
      <vt:lpstr>LLM evolution directions </vt:lpstr>
      <vt:lpstr>Conclusions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GLOBIOM test service</dc:title>
  <dc:creator>Albert Brouwer</dc:creator>
  <cp:keywords/>
  <dcterms:created xsi:type="dcterms:W3CDTF">2026-04-14T12:55:48Z</dcterms:created>
  <dcterms:modified xsi:type="dcterms:W3CDTF">2026-04-14T12:55:48Z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15-Apr-2026</vt:lpwstr>
  </property>
</Properties>
</file>